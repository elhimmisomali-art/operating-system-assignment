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9" r:id="rId5"/>
    <p:sldId id="259" r:id="rId6"/>
    <p:sldId id="260" r:id="rId7"/>
    <p:sldId id="261" r:id="rId8"/>
    <p:sldId id="262" r:id="rId9"/>
    <p:sldId id="263" r:id="rId10"/>
    <p:sldId id="264" r:id="rId11"/>
    <p:sldId id="265" r:id="rId12"/>
    <p:sldId id="266" r:id="rId13"/>
    <p:sldId id="267" r:id="rId14"/>
    <p:sldId id="268"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4" d="100"/>
          <a:sy n="94" d="100"/>
        </p:scale>
        <p:origin x="1646" y="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elhimmisomali-art/Operating-System-Assignment"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b="1" dirty="0" err="1"/>
              <a:t>EduOS</a:t>
            </a:r>
            <a:r>
              <a:rPr b="1" dirty="0"/>
              <a:t> - Operating System Simulation</a:t>
            </a:r>
          </a:p>
        </p:txBody>
      </p:sp>
      <p:sp>
        <p:nvSpPr>
          <p:cNvPr id="3" name="Subtitle 2"/>
          <p:cNvSpPr>
            <a:spLocks noGrp="1"/>
          </p:cNvSpPr>
          <p:nvPr>
            <p:ph type="subTitle" idx="1"/>
          </p:nvPr>
        </p:nvSpPr>
        <p:spPr/>
        <p:txBody>
          <a:bodyPr/>
          <a:lstStyle/>
          <a:p>
            <a:r>
              <a:rPr b="1" dirty="0"/>
              <a:t>C + Python Hybrid Kernel Project | Scheduling | IPC | Threads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ABSTRACT</a:t>
            </a:r>
            <a:endParaRPr b="1" dirty="0"/>
          </a:p>
        </p:txBody>
      </p:sp>
      <p:sp>
        <p:nvSpPr>
          <p:cNvPr id="3" name="Content Placeholder 2"/>
          <p:cNvSpPr>
            <a:spLocks noGrp="1"/>
          </p:cNvSpPr>
          <p:nvPr>
            <p:ph idx="1"/>
          </p:nvPr>
        </p:nvSpPr>
        <p:spPr/>
        <p:txBody>
          <a:bodyPr>
            <a:normAutofit fontScale="70000" lnSpcReduction="20000"/>
          </a:bodyPr>
          <a:lstStyle/>
          <a:p>
            <a:r>
              <a:rPr lang="en-GB" dirty="0" err="1"/>
              <a:t>EduOS</a:t>
            </a:r>
            <a:r>
              <a:rPr lang="en-GB" dirty="0"/>
              <a:t> is a lightweight operating system simulation built using C and Python. It demonstrates key operating system concepts such as process creation, scheduling, threading, and inter-process communication (IPC). The system uses a custom Process Control Block (PCB) to manage process state, simulating system calls like fork, exec, wait, and exit. A Python-based scheduler evaluates multiple CPU scheduling algorithms and generates performance visualizations such as Gantt charts and comparison graphs. IPC is implemented using shared memory with security checks based on process ownership. Through this project, I learned how operating systems manage resources, enforce process isolation, and schedule tasks efficiently across multiple processes and threads. It also improved my understanding of system-level programming, synchronization issues, and hybrid system design between low-level C and high-level Python tools.</a:t>
            </a:r>
            <a:endParaRPr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456"/>
            <a:ext cx="8229600" cy="1143000"/>
          </a:xfrm>
        </p:spPr>
        <p:txBody>
          <a:bodyPr/>
          <a:lstStyle/>
          <a:p>
            <a:r>
              <a:rPr lang="en-GB" b="1" dirty="0"/>
              <a:t>DESIGN DECISIONS</a:t>
            </a:r>
            <a:endParaRPr b="1" dirty="0"/>
          </a:p>
        </p:txBody>
      </p:sp>
      <p:sp>
        <p:nvSpPr>
          <p:cNvPr id="3" name="Content Placeholder 2"/>
          <p:cNvSpPr>
            <a:spLocks noGrp="1"/>
          </p:cNvSpPr>
          <p:nvPr>
            <p:ph idx="1"/>
          </p:nvPr>
        </p:nvSpPr>
        <p:spPr/>
        <p:txBody>
          <a:bodyPr/>
          <a:lstStyle/>
          <a:p>
            <a:pPr marL="971550" lvl="1" indent="-514350">
              <a:buFont typeface="+mj-lt"/>
              <a:buAutoNum type="arabicPeriod"/>
            </a:pPr>
            <a:r>
              <a:rPr lang="en-GB" b="1" dirty="0"/>
              <a:t>PCB as Struct (C)</a:t>
            </a:r>
          </a:p>
          <a:p>
            <a:pPr lvl="1" algn="just">
              <a:buFont typeface="Wingdings" panose="05000000000000000000" pitchFamily="2" charset="2"/>
              <a:buChar char="v"/>
            </a:pPr>
            <a:r>
              <a:rPr lang="en-GB" dirty="0"/>
              <a:t>Used Struct PCB for simplicity and Speed</a:t>
            </a:r>
          </a:p>
          <a:p>
            <a:pPr lvl="1" algn="just">
              <a:buFont typeface="Wingdings" panose="05000000000000000000" pitchFamily="2" charset="2"/>
              <a:buChar char="v"/>
            </a:pPr>
            <a:r>
              <a:rPr lang="en-GB" dirty="0"/>
              <a:t>Matches Real OS Kernel</a:t>
            </a:r>
          </a:p>
          <a:p>
            <a:pPr lvl="1" algn="just">
              <a:buFont typeface="Wingdings" panose="05000000000000000000" pitchFamily="2" charset="2"/>
              <a:buChar char="v"/>
            </a:pPr>
            <a:r>
              <a:rPr lang="en-GB" dirty="0"/>
              <a:t>Efficient Memory Layout</a:t>
            </a:r>
          </a:p>
          <a:p>
            <a:pPr marL="971550" lvl="1" indent="-514350" algn="just">
              <a:buAutoNum type="arabicPeriod" startAt="2"/>
            </a:pPr>
            <a:r>
              <a:rPr lang="en-GB" b="1" dirty="0"/>
              <a:t>Array-Based Process Table</a:t>
            </a:r>
          </a:p>
          <a:p>
            <a:pPr lvl="1" algn="just">
              <a:buFont typeface="Wingdings" panose="05000000000000000000" pitchFamily="2" charset="2"/>
              <a:buChar char="v"/>
            </a:pPr>
            <a:r>
              <a:rPr lang="en-GB" dirty="0"/>
              <a:t>Faster lookup for small simulation</a:t>
            </a:r>
          </a:p>
          <a:p>
            <a:pPr lvl="1" algn="just">
              <a:buFont typeface="Wingdings" panose="05000000000000000000" pitchFamily="2" charset="2"/>
              <a:buChar char="v"/>
            </a:pPr>
            <a:r>
              <a:rPr lang="en-GB" dirty="0"/>
              <a:t>Avoids Complex dynamic allocation</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CF0D-6420-AAFC-D44E-9224FE63DFDF}"/>
              </a:ext>
            </a:extLst>
          </p:cNvPr>
          <p:cNvSpPr>
            <a:spLocks noGrp="1"/>
          </p:cNvSpPr>
          <p:nvPr>
            <p:ph type="title"/>
          </p:nvPr>
        </p:nvSpPr>
        <p:spPr/>
        <p:txBody>
          <a:bodyPr>
            <a:normAutofit/>
          </a:bodyPr>
          <a:lstStyle/>
          <a:p>
            <a:r>
              <a:rPr lang="en-GB" b="1" dirty="0"/>
              <a:t>DESIGN DECISIONS</a:t>
            </a:r>
          </a:p>
        </p:txBody>
      </p:sp>
      <p:sp>
        <p:nvSpPr>
          <p:cNvPr id="3" name="Content Placeholder 2">
            <a:extLst>
              <a:ext uri="{FF2B5EF4-FFF2-40B4-BE49-F238E27FC236}">
                <a16:creationId xmlns:a16="http://schemas.microsoft.com/office/drawing/2014/main" id="{789FB2A5-F52B-A7B7-34E6-DFB070D3F81C}"/>
              </a:ext>
            </a:extLst>
          </p:cNvPr>
          <p:cNvSpPr>
            <a:spLocks noGrp="1"/>
          </p:cNvSpPr>
          <p:nvPr>
            <p:ph idx="1"/>
          </p:nvPr>
        </p:nvSpPr>
        <p:spPr/>
        <p:txBody>
          <a:bodyPr/>
          <a:lstStyle/>
          <a:p>
            <a:pPr marL="514350" indent="-514350">
              <a:buAutoNum type="arabicPeriod" startAt="3"/>
            </a:pPr>
            <a:r>
              <a:rPr lang="en-GB" b="1" dirty="0"/>
              <a:t>POSIX THREADS(</a:t>
            </a:r>
            <a:r>
              <a:rPr lang="en-GB" b="1" dirty="0" err="1"/>
              <a:t>pthread</a:t>
            </a:r>
            <a:r>
              <a:rPr lang="en-GB" b="1" dirty="0"/>
              <a:t>)</a:t>
            </a:r>
          </a:p>
          <a:p>
            <a:pPr>
              <a:buFont typeface="Wingdings" panose="05000000000000000000" pitchFamily="2" charset="2"/>
              <a:buChar char="v"/>
            </a:pPr>
            <a:r>
              <a:rPr lang="en-GB" dirty="0"/>
              <a:t>Standard Linux threading model</a:t>
            </a:r>
          </a:p>
          <a:p>
            <a:pPr>
              <a:buFont typeface="Wingdings" panose="05000000000000000000" pitchFamily="2" charset="2"/>
              <a:buChar char="v"/>
            </a:pPr>
            <a:r>
              <a:rPr lang="en-GB" dirty="0"/>
              <a:t>Realistic concurrency simulation</a:t>
            </a:r>
          </a:p>
          <a:p>
            <a:pPr marL="514350" indent="-514350">
              <a:buAutoNum type="arabicPeriod" startAt="4"/>
            </a:pPr>
            <a:r>
              <a:rPr lang="en-GB" b="1" dirty="0"/>
              <a:t>Shared Memory IPC</a:t>
            </a:r>
          </a:p>
          <a:p>
            <a:pPr>
              <a:buFont typeface="Wingdings" panose="05000000000000000000" pitchFamily="2" charset="2"/>
              <a:buChar char="v"/>
            </a:pPr>
            <a:r>
              <a:rPr lang="en-GB" dirty="0"/>
              <a:t>Faster than message Queues</a:t>
            </a:r>
          </a:p>
          <a:p>
            <a:pPr>
              <a:buFont typeface="Wingdings" panose="05000000000000000000" pitchFamily="2" charset="2"/>
              <a:buChar char="v"/>
            </a:pPr>
            <a:r>
              <a:rPr lang="en-GB" dirty="0"/>
              <a:t>Simulates kernel-level memory sharing</a:t>
            </a:r>
          </a:p>
          <a:p>
            <a:pPr>
              <a:buFont typeface="Wingdings" panose="05000000000000000000" pitchFamily="2" charset="2"/>
              <a:buChar char="v"/>
            </a:pPr>
            <a:r>
              <a:rPr lang="en-GB" dirty="0"/>
              <a:t>Allows ownership-based security control</a:t>
            </a:r>
          </a:p>
        </p:txBody>
      </p:sp>
    </p:spTree>
    <p:extLst>
      <p:ext uri="{BB962C8B-B14F-4D97-AF65-F5344CB8AC3E}">
        <p14:creationId xmlns:p14="http://schemas.microsoft.com/office/powerpoint/2010/main" val="145787637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Syllabus Mapping</a:t>
            </a:r>
          </a:p>
        </p:txBody>
      </p:sp>
      <p:graphicFrame>
        <p:nvGraphicFramePr>
          <p:cNvPr id="7" name="Table 7">
            <a:extLst>
              <a:ext uri="{FF2B5EF4-FFF2-40B4-BE49-F238E27FC236}">
                <a16:creationId xmlns:a16="http://schemas.microsoft.com/office/drawing/2014/main" id="{47BD7B17-78FB-9E46-C889-E0FBE4F0755F}"/>
              </a:ext>
            </a:extLst>
          </p:cNvPr>
          <p:cNvGraphicFramePr>
            <a:graphicFrameLocks noGrp="1"/>
          </p:cNvGraphicFramePr>
          <p:nvPr>
            <p:ph idx="1"/>
            <p:extLst>
              <p:ext uri="{D42A27DB-BD31-4B8C-83A1-F6EECF244321}">
                <p14:modId xmlns:p14="http://schemas.microsoft.com/office/powerpoint/2010/main" val="1641187008"/>
              </p:ext>
            </p:extLst>
          </p:nvPr>
        </p:nvGraphicFramePr>
        <p:xfrm>
          <a:off x="457200" y="1600200"/>
          <a:ext cx="8229600" cy="52161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33630732"/>
                    </a:ext>
                  </a:extLst>
                </a:gridCol>
                <a:gridCol w="2743200">
                  <a:extLst>
                    <a:ext uri="{9D8B030D-6E8A-4147-A177-3AD203B41FA5}">
                      <a16:colId xmlns:a16="http://schemas.microsoft.com/office/drawing/2014/main" val="2662491075"/>
                    </a:ext>
                  </a:extLst>
                </a:gridCol>
                <a:gridCol w="2743200">
                  <a:extLst>
                    <a:ext uri="{9D8B030D-6E8A-4147-A177-3AD203B41FA5}">
                      <a16:colId xmlns:a16="http://schemas.microsoft.com/office/drawing/2014/main" val="4170380524"/>
                    </a:ext>
                  </a:extLst>
                </a:gridCol>
              </a:tblGrid>
              <a:tr h="711880">
                <a:tc>
                  <a:txBody>
                    <a:bodyPr/>
                    <a:lstStyle/>
                    <a:p>
                      <a:r>
                        <a:rPr lang="en-GB" sz="2800" dirty="0"/>
                        <a:t>Syllabus Topic </a:t>
                      </a:r>
                    </a:p>
                  </a:txBody>
                  <a:tcPr/>
                </a:tc>
                <a:tc>
                  <a:txBody>
                    <a:bodyPr/>
                    <a:lstStyle/>
                    <a:p>
                      <a:r>
                        <a:rPr lang="en-GB" sz="2800" dirty="0" err="1"/>
                        <a:t>EduOS</a:t>
                      </a:r>
                      <a:r>
                        <a:rPr lang="en-GB" sz="2800" dirty="0"/>
                        <a:t> Implementation</a:t>
                      </a:r>
                    </a:p>
                  </a:txBody>
                  <a:tcPr/>
                </a:tc>
                <a:tc>
                  <a:txBody>
                    <a:bodyPr/>
                    <a:lstStyle/>
                    <a:p>
                      <a:r>
                        <a:rPr lang="en-GB" sz="2800" dirty="0"/>
                        <a:t>File Reference</a:t>
                      </a:r>
                    </a:p>
                  </a:txBody>
                  <a:tcPr/>
                </a:tc>
                <a:extLst>
                  <a:ext uri="{0D108BD9-81ED-4DB2-BD59-A6C34878D82A}">
                    <a16:rowId xmlns:a16="http://schemas.microsoft.com/office/drawing/2014/main" val="2386160309"/>
                  </a:ext>
                </a:extLst>
              </a:tr>
              <a:tr h="711880">
                <a:tc>
                  <a:txBody>
                    <a:bodyPr/>
                    <a:lstStyle/>
                    <a:p>
                      <a:r>
                        <a:rPr lang="en-GB" dirty="0"/>
                        <a:t>1.Process Management</a:t>
                      </a:r>
                    </a:p>
                  </a:txBody>
                  <a:tcPr/>
                </a:tc>
                <a:tc>
                  <a:txBody>
                    <a:bodyPr/>
                    <a:lstStyle/>
                    <a:p>
                      <a:pPr marL="285750" indent="-285750">
                        <a:buFont typeface="Courier New" panose="02070309020205020404" pitchFamily="49" charset="0"/>
                        <a:buChar char="o"/>
                      </a:pPr>
                      <a:r>
                        <a:rPr lang="en-GB" dirty="0"/>
                        <a:t>PCB creation, </a:t>
                      </a:r>
                      <a:r>
                        <a:rPr lang="en-GB" dirty="0" err="1"/>
                        <a:t>fork,exec,wait</a:t>
                      </a:r>
                      <a:endParaRPr lang="en-GB" dirty="0"/>
                    </a:p>
                  </a:txBody>
                  <a:tcPr/>
                </a:tc>
                <a:tc>
                  <a:txBody>
                    <a:bodyPr/>
                    <a:lstStyle/>
                    <a:p>
                      <a:pPr marL="285750" indent="-285750">
                        <a:buFont typeface="Courier New" panose="02070309020205020404" pitchFamily="49" charset="0"/>
                        <a:buChar char="o"/>
                      </a:pPr>
                      <a:r>
                        <a:rPr lang="en-GB" dirty="0" err="1"/>
                        <a:t>Process_manager.c</a:t>
                      </a:r>
                      <a:endParaRPr lang="en-GB" dirty="0"/>
                    </a:p>
                  </a:txBody>
                  <a:tcPr/>
                </a:tc>
                <a:extLst>
                  <a:ext uri="{0D108BD9-81ED-4DB2-BD59-A6C34878D82A}">
                    <a16:rowId xmlns:a16="http://schemas.microsoft.com/office/drawing/2014/main" val="305835189"/>
                  </a:ext>
                </a:extLst>
              </a:tr>
              <a:tr h="711880">
                <a:tc>
                  <a:txBody>
                    <a:bodyPr/>
                    <a:lstStyle/>
                    <a:p>
                      <a:r>
                        <a:rPr lang="en-GB" dirty="0"/>
                        <a:t>2.CPU Scheduling</a:t>
                      </a:r>
                    </a:p>
                  </a:txBody>
                  <a:tcPr/>
                </a:tc>
                <a:tc>
                  <a:txBody>
                    <a:bodyPr/>
                    <a:lstStyle/>
                    <a:p>
                      <a:pPr marL="285750" indent="-285750">
                        <a:buFont typeface="Courier New" panose="02070309020205020404" pitchFamily="49" charset="0"/>
                        <a:buChar char="o"/>
                      </a:pPr>
                      <a:r>
                        <a:rPr lang="en-GB" dirty="0" err="1"/>
                        <a:t>FCFS,SJF,RR,Priority</a:t>
                      </a:r>
                      <a:endParaRPr lang="en-GB" dirty="0"/>
                    </a:p>
                  </a:txBody>
                  <a:tcPr/>
                </a:tc>
                <a:tc>
                  <a:txBody>
                    <a:bodyPr/>
                    <a:lstStyle/>
                    <a:p>
                      <a:pPr marL="285750" indent="-285750">
                        <a:buFont typeface="Courier New" panose="02070309020205020404" pitchFamily="49" charset="0"/>
                        <a:buChar char="o"/>
                      </a:pPr>
                      <a:r>
                        <a:rPr lang="en-GB" dirty="0"/>
                        <a:t>Scheduler_sim.py</a:t>
                      </a:r>
                    </a:p>
                  </a:txBody>
                  <a:tcPr/>
                </a:tc>
                <a:extLst>
                  <a:ext uri="{0D108BD9-81ED-4DB2-BD59-A6C34878D82A}">
                    <a16:rowId xmlns:a16="http://schemas.microsoft.com/office/drawing/2014/main" val="1373431151"/>
                  </a:ext>
                </a:extLst>
              </a:tr>
              <a:tr h="711880">
                <a:tc>
                  <a:txBody>
                    <a:bodyPr/>
                    <a:lstStyle/>
                    <a:p>
                      <a:r>
                        <a:rPr lang="en-GB" dirty="0"/>
                        <a:t>3.Threads</a:t>
                      </a:r>
                    </a:p>
                  </a:txBody>
                  <a:tcPr/>
                </a:tc>
                <a:tc>
                  <a:txBody>
                    <a:bodyPr/>
                    <a:lstStyle/>
                    <a:p>
                      <a:pPr marL="285750" indent="-285750">
                        <a:buFont typeface="Courier New" panose="02070309020205020404" pitchFamily="49" charset="0"/>
                        <a:buChar char="o"/>
                      </a:pPr>
                      <a:r>
                        <a:rPr lang="en-GB" dirty="0" err="1"/>
                        <a:t>Pthread</a:t>
                      </a:r>
                      <a:r>
                        <a:rPr lang="en-GB" dirty="0"/>
                        <a:t> worker pool</a:t>
                      </a:r>
                    </a:p>
                  </a:txBody>
                  <a:tcPr/>
                </a:tc>
                <a:tc>
                  <a:txBody>
                    <a:bodyPr/>
                    <a:lstStyle/>
                    <a:p>
                      <a:pPr marL="285750" indent="-285750">
                        <a:buFont typeface="Courier New" panose="02070309020205020404" pitchFamily="49" charset="0"/>
                        <a:buChar char="o"/>
                      </a:pPr>
                      <a:r>
                        <a:rPr lang="en-GB" dirty="0" err="1"/>
                        <a:t>thread_manager.c</a:t>
                      </a:r>
                      <a:endParaRPr lang="en-GB" dirty="0"/>
                    </a:p>
                  </a:txBody>
                  <a:tcPr/>
                </a:tc>
                <a:extLst>
                  <a:ext uri="{0D108BD9-81ED-4DB2-BD59-A6C34878D82A}">
                    <a16:rowId xmlns:a16="http://schemas.microsoft.com/office/drawing/2014/main" val="3339538381"/>
                  </a:ext>
                </a:extLst>
              </a:tr>
              <a:tr h="711880">
                <a:tc>
                  <a:txBody>
                    <a:bodyPr/>
                    <a:lstStyle/>
                    <a:p>
                      <a:r>
                        <a:rPr lang="en-GB" dirty="0"/>
                        <a:t>4.IPC</a:t>
                      </a:r>
                    </a:p>
                  </a:txBody>
                  <a:tcPr/>
                </a:tc>
                <a:tc>
                  <a:txBody>
                    <a:bodyPr/>
                    <a:lstStyle/>
                    <a:p>
                      <a:pPr marL="285750" indent="-285750">
                        <a:buFont typeface="Courier New" panose="02070309020205020404" pitchFamily="49" charset="0"/>
                        <a:buChar char="o"/>
                      </a:pPr>
                      <a:r>
                        <a:rPr lang="en-GB" dirty="0"/>
                        <a:t>Shared memory + Security check</a:t>
                      </a:r>
                    </a:p>
                  </a:txBody>
                  <a:tcPr/>
                </a:tc>
                <a:tc>
                  <a:txBody>
                    <a:bodyPr/>
                    <a:lstStyle/>
                    <a:p>
                      <a:pPr marL="285750" indent="-285750">
                        <a:buFont typeface="Courier New" panose="02070309020205020404" pitchFamily="49" charset="0"/>
                        <a:buChar char="o"/>
                      </a:pPr>
                      <a:r>
                        <a:rPr lang="en-GB" dirty="0" err="1"/>
                        <a:t>Ipc_shared.c</a:t>
                      </a:r>
                      <a:endParaRPr lang="en-GB" dirty="0"/>
                    </a:p>
                  </a:txBody>
                  <a:tcPr/>
                </a:tc>
                <a:extLst>
                  <a:ext uri="{0D108BD9-81ED-4DB2-BD59-A6C34878D82A}">
                    <a16:rowId xmlns:a16="http://schemas.microsoft.com/office/drawing/2014/main" val="2546115018"/>
                  </a:ext>
                </a:extLst>
              </a:tr>
              <a:tr h="711880">
                <a:tc>
                  <a:txBody>
                    <a:bodyPr/>
                    <a:lstStyle/>
                    <a:p>
                      <a:r>
                        <a:rPr lang="en-GB" dirty="0"/>
                        <a:t>5.Race Condition</a:t>
                      </a:r>
                    </a:p>
                  </a:txBody>
                  <a:tcPr/>
                </a:tc>
                <a:tc>
                  <a:txBody>
                    <a:bodyPr/>
                    <a:lstStyle/>
                    <a:p>
                      <a:pPr marL="285750" indent="-285750">
                        <a:buFont typeface="Courier New" panose="02070309020205020404" pitchFamily="49" charset="0"/>
                        <a:buChar char="o"/>
                      </a:pPr>
                      <a:r>
                        <a:rPr lang="en-GB" dirty="0"/>
                        <a:t>Counter increment demo</a:t>
                      </a:r>
                    </a:p>
                  </a:txBody>
                  <a:tcPr/>
                </a:tc>
                <a:tc>
                  <a:txBody>
                    <a:bodyPr/>
                    <a:lstStyle/>
                    <a:p>
                      <a:pPr marL="285750" indent="-285750">
                        <a:buFont typeface="Courier New" panose="02070309020205020404" pitchFamily="49" charset="0"/>
                        <a:buChar char="o"/>
                      </a:pPr>
                      <a:r>
                        <a:rPr lang="en-GB" dirty="0" err="1"/>
                        <a:t>race_demo.c</a:t>
                      </a:r>
                      <a:endParaRPr lang="en-GB" dirty="0"/>
                    </a:p>
                  </a:txBody>
                  <a:tcPr/>
                </a:tc>
                <a:extLst>
                  <a:ext uri="{0D108BD9-81ED-4DB2-BD59-A6C34878D82A}">
                    <a16:rowId xmlns:a16="http://schemas.microsoft.com/office/drawing/2014/main" val="150259643"/>
                  </a:ext>
                </a:extLst>
              </a:tr>
              <a:tr h="711880">
                <a:tc>
                  <a:txBody>
                    <a:bodyPr/>
                    <a:lstStyle/>
                    <a:p>
                      <a:r>
                        <a:rPr lang="en-GB" dirty="0"/>
                        <a:t>6.Deadlock</a:t>
                      </a:r>
                    </a:p>
                  </a:txBody>
                  <a:tcPr/>
                </a:tc>
                <a:tc>
                  <a:txBody>
                    <a:bodyPr/>
                    <a:lstStyle/>
                    <a:p>
                      <a:pPr marL="285750" indent="-285750">
                        <a:buFont typeface="Courier New" panose="02070309020205020404" pitchFamily="49" charset="0"/>
                        <a:buChar char="o"/>
                      </a:pPr>
                      <a:r>
                        <a:rPr lang="en-GB" dirty="0"/>
                        <a:t>Mutex Circular lock demo</a:t>
                      </a:r>
                    </a:p>
                  </a:txBody>
                  <a:tcPr/>
                </a:tc>
                <a:tc>
                  <a:txBody>
                    <a:bodyPr/>
                    <a:lstStyle/>
                    <a:p>
                      <a:pPr marL="285750" indent="-285750">
                        <a:buFont typeface="Courier New" panose="02070309020205020404" pitchFamily="49" charset="0"/>
                        <a:buChar char="o"/>
                      </a:pPr>
                      <a:r>
                        <a:rPr lang="en-GB" dirty="0"/>
                        <a:t>Deadlock_demo.c</a:t>
                      </a:r>
                    </a:p>
                  </a:txBody>
                  <a:tcPr/>
                </a:tc>
                <a:extLst>
                  <a:ext uri="{0D108BD9-81ED-4DB2-BD59-A6C34878D82A}">
                    <a16:rowId xmlns:a16="http://schemas.microsoft.com/office/drawing/2014/main" val="2790029138"/>
                  </a:ext>
                </a:extLst>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Scheduling Analysis</a:t>
            </a:r>
          </a:p>
        </p:txBody>
      </p:sp>
      <p:sp>
        <p:nvSpPr>
          <p:cNvPr id="3" name="Content Placeholder 2"/>
          <p:cNvSpPr>
            <a:spLocks noGrp="1"/>
          </p:cNvSpPr>
          <p:nvPr>
            <p:ph idx="1"/>
          </p:nvPr>
        </p:nvSpPr>
        <p:spPr/>
        <p:txBody>
          <a:bodyPr>
            <a:normAutofit fontScale="70000" lnSpcReduction="20000"/>
          </a:bodyPr>
          <a:lstStyle/>
          <a:p>
            <a:r>
              <a:rPr lang="en-GB" b="1" dirty="0"/>
              <a:t>Algorithms Tested:</a:t>
            </a:r>
          </a:p>
          <a:p>
            <a:pPr lvl="1">
              <a:buFont typeface="Courier New" panose="02070309020205020404" pitchFamily="49" charset="0"/>
              <a:buChar char="o"/>
            </a:pPr>
            <a:r>
              <a:rPr lang="en-GB" dirty="0"/>
              <a:t>FCFS , SJF , Priority Scheduling , Round Robin</a:t>
            </a:r>
          </a:p>
          <a:p>
            <a:r>
              <a:rPr lang="en-GB" b="1" dirty="0"/>
              <a:t>Observation:</a:t>
            </a:r>
          </a:p>
          <a:p>
            <a:pPr lvl="1">
              <a:buFont typeface="Courier New" panose="02070309020205020404" pitchFamily="49" charset="0"/>
              <a:buChar char="o"/>
            </a:pPr>
            <a:r>
              <a:rPr lang="en-GB" dirty="0"/>
              <a:t>SJF gave lowest average  waiting time</a:t>
            </a:r>
          </a:p>
          <a:p>
            <a:pPr lvl="1">
              <a:buFont typeface="Courier New" panose="02070309020205020404" pitchFamily="49" charset="0"/>
              <a:buChar char="o"/>
            </a:pPr>
            <a:r>
              <a:rPr lang="en-GB" dirty="0"/>
              <a:t>FCFS performed worst due to long job blocking</a:t>
            </a:r>
          </a:p>
          <a:p>
            <a:pPr lvl="1">
              <a:buFont typeface="Courier New" panose="02070309020205020404" pitchFamily="49" charset="0"/>
              <a:buChar char="o"/>
            </a:pPr>
            <a:r>
              <a:rPr lang="en-GB" dirty="0"/>
              <a:t>Round Robin balanced fairness and response time</a:t>
            </a:r>
          </a:p>
          <a:p>
            <a:r>
              <a:rPr lang="en-GB" b="1" dirty="0"/>
              <a:t>Reason:</a:t>
            </a:r>
          </a:p>
          <a:p>
            <a:pPr lvl="1">
              <a:buFont typeface="Courier New" panose="02070309020205020404" pitchFamily="49" charset="0"/>
              <a:buChar char="o"/>
            </a:pPr>
            <a:r>
              <a:rPr lang="en-GB" dirty="0"/>
              <a:t>SJF prioritizes shortest jobs</a:t>
            </a:r>
          </a:p>
          <a:p>
            <a:pPr lvl="1">
              <a:buFont typeface="Courier New" panose="02070309020205020404" pitchFamily="49" charset="0"/>
              <a:buChar char="o"/>
            </a:pPr>
            <a:r>
              <a:rPr lang="en-GB" dirty="0"/>
              <a:t>RR improves responsiveness in interactive system</a:t>
            </a:r>
          </a:p>
          <a:p>
            <a:r>
              <a:rPr lang="en-GB" b="1" dirty="0"/>
              <a:t>When others win:</a:t>
            </a:r>
          </a:p>
          <a:p>
            <a:pPr lvl="1">
              <a:buFont typeface="Courier New" panose="02070309020205020404" pitchFamily="49" charset="0"/>
              <a:buChar char="o"/>
            </a:pPr>
            <a:r>
              <a:rPr lang="en-GB" dirty="0"/>
              <a:t>FCFS – simple batch systems</a:t>
            </a:r>
          </a:p>
          <a:p>
            <a:pPr lvl="1">
              <a:buFont typeface="Courier New" panose="02070309020205020404" pitchFamily="49" charset="0"/>
              <a:buChar char="o"/>
            </a:pPr>
            <a:r>
              <a:rPr lang="en-GB" dirty="0"/>
              <a:t>RR – time sharing systems</a:t>
            </a:r>
          </a:p>
          <a:p>
            <a:pPr lvl="1">
              <a:buFont typeface="Courier New" panose="02070309020205020404" pitchFamily="49" charset="0"/>
              <a:buChar char="o"/>
            </a:pPr>
            <a:r>
              <a:rPr lang="en-GB" dirty="0"/>
              <a:t>Priority – real-time systems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Scheduling Gantt Chart</a:t>
            </a:r>
          </a:p>
        </p:txBody>
      </p:sp>
      <p:pic>
        <p:nvPicPr>
          <p:cNvPr id="5" name="Picture 4">
            <a:extLst>
              <a:ext uri="{FF2B5EF4-FFF2-40B4-BE49-F238E27FC236}">
                <a16:creationId xmlns:a16="http://schemas.microsoft.com/office/drawing/2014/main" id="{27A74ED6-27C4-3C65-9C5F-93E4973D2127}"/>
              </a:ext>
            </a:extLst>
          </p:cNvPr>
          <p:cNvPicPr>
            <a:picLocks noChangeAspect="1"/>
          </p:cNvPicPr>
          <p:nvPr/>
        </p:nvPicPr>
        <p:blipFill>
          <a:blip r:embed="rId2"/>
          <a:stretch>
            <a:fillRect/>
          </a:stretch>
        </p:blipFill>
        <p:spPr>
          <a:xfrm>
            <a:off x="1645914" y="1234435"/>
            <a:ext cx="5852172" cy="4389129"/>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Scheduling Gantt Chart</a:t>
            </a:r>
          </a:p>
        </p:txBody>
      </p:sp>
      <p:pic>
        <p:nvPicPr>
          <p:cNvPr id="5" name="Picture 4">
            <a:extLst>
              <a:ext uri="{FF2B5EF4-FFF2-40B4-BE49-F238E27FC236}">
                <a16:creationId xmlns:a16="http://schemas.microsoft.com/office/drawing/2014/main" id="{86806340-9A2A-5E95-3A99-9342D6FE4ABA}"/>
              </a:ext>
            </a:extLst>
          </p:cNvPr>
          <p:cNvPicPr>
            <a:picLocks noChangeAspect="1"/>
          </p:cNvPicPr>
          <p:nvPr/>
        </p:nvPicPr>
        <p:blipFill>
          <a:blip r:embed="rId2"/>
          <a:stretch>
            <a:fillRect/>
          </a:stretch>
        </p:blipFill>
        <p:spPr>
          <a:xfrm>
            <a:off x="1645914" y="1234435"/>
            <a:ext cx="5852172" cy="4389129"/>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Scheduling Gantt Chart</a:t>
            </a:r>
          </a:p>
        </p:txBody>
      </p:sp>
      <p:pic>
        <p:nvPicPr>
          <p:cNvPr id="5" name="Picture 4">
            <a:extLst>
              <a:ext uri="{FF2B5EF4-FFF2-40B4-BE49-F238E27FC236}">
                <a16:creationId xmlns:a16="http://schemas.microsoft.com/office/drawing/2014/main" id="{E819F156-487A-D363-AA46-EB165F4DB7EB}"/>
              </a:ext>
            </a:extLst>
          </p:cNvPr>
          <p:cNvPicPr>
            <a:picLocks noChangeAspect="1"/>
          </p:cNvPicPr>
          <p:nvPr/>
        </p:nvPicPr>
        <p:blipFill>
          <a:blip r:embed="rId2"/>
          <a:stretch>
            <a:fillRect/>
          </a:stretch>
        </p:blipFill>
        <p:spPr>
          <a:xfrm>
            <a:off x="1645914" y="1234435"/>
            <a:ext cx="5852172" cy="4389129"/>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Scheduling Gantt Chart</a:t>
            </a:r>
          </a:p>
        </p:txBody>
      </p:sp>
      <p:pic>
        <p:nvPicPr>
          <p:cNvPr id="5" name="Picture 4">
            <a:extLst>
              <a:ext uri="{FF2B5EF4-FFF2-40B4-BE49-F238E27FC236}">
                <a16:creationId xmlns:a16="http://schemas.microsoft.com/office/drawing/2014/main" id="{2C14A5DA-A558-BDA3-E42A-B97F0DDB07BC}"/>
              </a:ext>
            </a:extLst>
          </p:cNvPr>
          <p:cNvPicPr>
            <a:picLocks noChangeAspect="1"/>
          </p:cNvPicPr>
          <p:nvPr/>
        </p:nvPicPr>
        <p:blipFill>
          <a:blip r:embed="rId2"/>
          <a:stretch>
            <a:fillRect/>
          </a:stretch>
        </p:blipFill>
        <p:spPr>
          <a:xfrm>
            <a:off x="1645914" y="1234435"/>
            <a:ext cx="5852172" cy="4389129"/>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Threading Issues</a:t>
            </a:r>
          </a:p>
        </p:txBody>
      </p:sp>
      <p:sp>
        <p:nvSpPr>
          <p:cNvPr id="3" name="Content Placeholder 2"/>
          <p:cNvSpPr>
            <a:spLocks noGrp="1"/>
          </p:cNvSpPr>
          <p:nvPr>
            <p:ph idx="1"/>
          </p:nvPr>
        </p:nvSpPr>
        <p:spPr/>
        <p:txBody>
          <a:bodyPr>
            <a:normAutofit fontScale="77500" lnSpcReduction="20000"/>
          </a:bodyPr>
          <a:lstStyle/>
          <a:p>
            <a:r>
              <a:rPr lang="en-GB" b="1" dirty="0"/>
              <a:t>PROBLEM:</a:t>
            </a:r>
          </a:p>
          <a:p>
            <a:pPr lvl="1">
              <a:buFont typeface="Courier New" panose="02070309020205020404" pitchFamily="49" charset="0"/>
              <a:buChar char="o"/>
            </a:pPr>
            <a:r>
              <a:rPr lang="en-GB" dirty="0"/>
              <a:t>Race condition in shared counter</a:t>
            </a:r>
          </a:p>
          <a:p>
            <a:pPr lvl="1">
              <a:buFont typeface="Courier New" panose="02070309020205020404" pitchFamily="49" charset="0"/>
              <a:buChar char="o"/>
            </a:pPr>
            <a:r>
              <a:rPr lang="en-GB" dirty="0"/>
              <a:t>Multiple threads incrementing without sync</a:t>
            </a:r>
          </a:p>
          <a:p>
            <a:r>
              <a:rPr lang="en-GB" b="1" dirty="0"/>
              <a:t>RESULT:</a:t>
            </a:r>
          </a:p>
          <a:p>
            <a:pPr lvl="1">
              <a:buFont typeface="Courier New" panose="02070309020205020404" pitchFamily="49" charset="0"/>
              <a:buChar char="o"/>
            </a:pPr>
            <a:r>
              <a:rPr lang="en-GB" dirty="0"/>
              <a:t>Incorrect final counter value</a:t>
            </a:r>
          </a:p>
          <a:p>
            <a:pPr lvl="1">
              <a:buFont typeface="Courier New" panose="02070309020205020404" pitchFamily="49" charset="0"/>
              <a:buChar char="o"/>
            </a:pPr>
            <a:r>
              <a:rPr lang="en-GB" dirty="0"/>
              <a:t>Non-deterministic output</a:t>
            </a:r>
          </a:p>
          <a:p>
            <a:r>
              <a:rPr lang="en-GB" b="1" dirty="0"/>
              <a:t>FIX:</a:t>
            </a:r>
          </a:p>
          <a:p>
            <a:pPr lvl="1">
              <a:buFont typeface="Courier New" panose="02070309020205020404" pitchFamily="49" charset="0"/>
              <a:buChar char="o"/>
            </a:pPr>
            <a:r>
              <a:rPr lang="en-GB" dirty="0"/>
              <a:t>Added </a:t>
            </a:r>
            <a:r>
              <a:rPr lang="en-GB" dirty="0" err="1"/>
              <a:t>pthread_mutex_lock</a:t>
            </a:r>
            <a:endParaRPr lang="en-GB" dirty="0"/>
          </a:p>
          <a:p>
            <a:pPr lvl="1">
              <a:buFont typeface="Courier New" panose="02070309020205020404" pitchFamily="49" charset="0"/>
              <a:buChar char="o"/>
            </a:pPr>
            <a:r>
              <a:rPr lang="en-GB" dirty="0"/>
              <a:t>Ensured critical section protection</a:t>
            </a:r>
          </a:p>
          <a:p>
            <a:r>
              <a:rPr lang="en-GB" b="1" dirty="0"/>
              <a:t>LESSON:</a:t>
            </a:r>
          </a:p>
          <a:p>
            <a:pPr lvl="1">
              <a:buFont typeface="Courier New" panose="02070309020205020404" pitchFamily="49" charset="0"/>
              <a:buChar char="o"/>
            </a:pPr>
            <a:r>
              <a:rPr lang="en-GB" dirty="0"/>
              <a:t>Without synchronization --&gt; data corruption</a:t>
            </a:r>
          </a:p>
          <a:p>
            <a:pPr lvl="1">
              <a:buFont typeface="Courier New" panose="02070309020205020404" pitchFamily="49" charset="0"/>
              <a:buChar char="o"/>
            </a:pPr>
            <a:r>
              <a:rPr lang="en-GB" dirty="0"/>
              <a:t>Mutex ensures atomic execution </a:t>
            </a:r>
            <a:endParaRPr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 vs Python: Lessons Learned </a:t>
            </a:r>
            <a:endParaRPr b="1" dirty="0"/>
          </a:p>
        </p:txBody>
      </p:sp>
      <p:sp>
        <p:nvSpPr>
          <p:cNvPr id="3" name="Content Placeholder 2"/>
          <p:cNvSpPr>
            <a:spLocks noGrp="1"/>
          </p:cNvSpPr>
          <p:nvPr>
            <p:ph idx="1"/>
          </p:nvPr>
        </p:nvSpPr>
        <p:spPr/>
        <p:txBody>
          <a:bodyPr>
            <a:normAutofit fontScale="55000" lnSpcReduction="20000"/>
          </a:bodyPr>
          <a:lstStyle/>
          <a:p>
            <a:r>
              <a:rPr lang="en-GB" dirty="0"/>
              <a:t>C and Python were used together to simulate different layers of an operating system. In C, low-level control was used to manage processes, threads, and memory directly through structures like PCB and system-like functions such as fork, exec, wait, and exit. This made the system more realistic but also more complex, as memory management and synchronization had to be handled manually.</a:t>
            </a:r>
          </a:p>
          <a:p>
            <a:r>
              <a:rPr lang="en-GB" dirty="0"/>
              <a:t>In contrast, Python was used for higher-level simulation tasks such as scheduling algorithms and performance analysis. Python made it easier to implement algorithms like FCFS, SJF, and Round Robin, and to generate graphs for visualization. However, it abstracts away system-level control, meaning it cannot directly represent kernel behaviour.</a:t>
            </a:r>
          </a:p>
          <a:p>
            <a:r>
              <a:rPr lang="en-GB" dirty="0"/>
              <a:t>The main lesson learned is that C provides control and realism, while Python provides speed and clarity. Combining both allows a balance between system accuracy and usability. This reflects real operating systems where the kernel is written in low-level languages, while user-space tools are often higher-level.</a:t>
            </a:r>
          </a:p>
          <a:p>
            <a:r>
              <a:rPr lang="en-GB" dirty="0"/>
              <a:t>Overall, the project helped me understand how operating systems separate responsibilities between low-level hardware control and high-level process management tools.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Challenges &amp; Solutions</a:t>
            </a:r>
          </a:p>
        </p:txBody>
      </p:sp>
      <p:sp>
        <p:nvSpPr>
          <p:cNvPr id="3" name="Content Placeholder 2"/>
          <p:cNvSpPr>
            <a:spLocks noGrp="1"/>
          </p:cNvSpPr>
          <p:nvPr>
            <p:ph idx="1"/>
          </p:nvPr>
        </p:nvSpPr>
        <p:spPr/>
        <p:txBody>
          <a:bodyPr>
            <a:normAutofit fontScale="92500"/>
          </a:bodyPr>
          <a:lstStyle/>
          <a:p>
            <a:pPr marL="514350" indent="-514350">
              <a:buFont typeface="+mj-lt"/>
              <a:buAutoNum type="arabicPeriod"/>
            </a:pPr>
            <a:r>
              <a:rPr lang="en-GB" b="1" dirty="0"/>
              <a:t>Git Rebase Conflicts</a:t>
            </a:r>
          </a:p>
          <a:p>
            <a:pPr marL="914400" lvl="1" indent="-514350">
              <a:buFont typeface="Courier New" panose="02070309020205020404" pitchFamily="49" charset="0"/>
              <a:buChar char="o"/>
            </a:pPr>
            <a:r>
              <a:rPr lang="en-GB" dirty="0"/>
              <a:t>Problem: README overwritten during merge</a:t>
            </a:r>
          </a:p>
          <a:p>
            <a:pPr marL="914400" lvl="1" indent="-514350">
              <a:buFont typeface="Courier New" panose="02070309020205020404" pitchFamily="49" charset="0"/>
              <a:buChar char="o"/>
            </a:pPr>
            <a:r>
              <a:rPr lang="en-GB" dirty="0"/>
              <a:t>Solution: used git </a:t>
            </a:r>
            <a:r>
              <a:rPr lang="en-GB" dirty="0" err="1"/>
              <a:t>reflog</a:t>
            </a:r>
            <a:r>
              <a:rPr lang="en-GB" dirty="0"/>
              <a:t> and restored correct commit</a:t>
            </a:r>
          </a:p>
          <a:p>
            <a:pPr marL="514350" indent="-514350">
              <a:buFont typeface="+mj-lt"/>
              <a:buAutoNum type="arabicPeriod"/>
            </a:pPr>
            <a:r>
              <a:rPr lang="en-GB" b="1" dirty="0"/>
              <a:t>IPC Access Errors</a:t>
            </a:r>
          </a:p>
          <a:p>
            <a:pPr marL="914400" lvl="1" indent="-514350">
              <a:buFont typeface="Courier New" panose="02070309020205020404" pitchFamily="49" charset="0"/>
              <a:buChar char="o"/>
            </a:pPr>
            <a:r>
              <a:rPr lang="en-GB" dirty="0"/>
              <a:t>Problem: Unauthorized process access</a:t>
            </a:r>
          </a:p>
          <a:p>
            <a:pPr marL="914400" lvl="1" indent="-514350">
              <a:buFont typeface="Courier New" panose="02070309020205020404" pitchFamily="49" charset="0"/>
              <a:buChar char="o"/>
            </a:pPr>
            <a:r>
              <a:rPr lang="en-GB" dirty="0"/>
              <a:t>Solution: added </a:t>
            </a:r>
            <a:r>
              <a:rPr lang="en-GB" dirty="0" err="1"/>
              <a:t>owner_id</a:t>
            </a:r>
            <a:r>
              <a:rPr lang="en-GB" dirty="0"/>
              <a:t> check in PCB</a:t>
            </a:r>
          </a:p>
          <a:p>
            <a:pPr marL="514350" indent="-514350">
              <a:buFont typeface="+mj-lt"/>
              <a:buAutoNum type="arabicPeriod"/>
            </a:pPr>
            <a:r>
              <a:rPr lang="en-GB" b="1" dirty="0"/>
              <a:t>Thread Race Condition</a:t>
            </a:r>
          </a:p>
          <a:p>
            <a:pPr marL="914400" lvl="1" indent="-514350">
              <a:buFont typeface="Courier New" panose="02070309020205020404" pitchFamily="49" charset="0"/>
              <a:buChar char="o"/>
            </a:pPr>
            <a:r>
              <a:rPr lang="en-GB" dirty="0"/>
              <a:t>Problem: Incorrect counter output</a:t>
            </a:r>
          </a:p>
          <a:p>
            <a:pPr marL="914400" lvl="1" indent="-514350">
              <a:buFont typeface="Courier New" panose="02070309020205020404" pitchFamily="49" charset="0"/>
              <a:buChar char="o"/>
            </a:pPr>
            <a:r>
              <a:rPr lang="en-GB" dirty="0"/>
              <a:t>Solution: Added mutex lock</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GitHub Summary</a:t>
            </a:r>
          </a:p>
        </p:txBody>
      </p:sp>
      <p:sp>
        <p:nvSpPr>
          <p:cNvPr id="3" name="Content Placeholder 2"/>
          <p:cNvSpPr>
            <a:spLocks noGrp="1"/>
          </p:cNvSpPr>
          <p:nvPr>
            <p:ph idx="1"/>
          </p:nvPr>
        </p:nvSpPr>
        <p:spPr/>
        <p:txBody>
          <a:bodyPr>
            <a:normAutofit lnSpcReduction="10000"/>
          </a:bodyPr>
          <a:lstStyle/>
          <a:p>
            <a:r>
              <a:rPr lang="en-GB" dirty="0"/>
              <a:t>Repository URL:   </a:t>
            </a:r>
            <a:r>
              <a:rPr lang="en-GB" dirty="0">
                <a:hlinkClick r:id="rId2"/>
              </a:rPr>
              <a:t>https://github.com/elhimmisomali-art/Operating-System-Assignment</a:t>
            </a:r>
            <a:endParaRPr lang="en-GB" dirty="0"/>
          </a:p>
          <a:p>
            <a:r>
              <a:rPr lang="en-GB" dirty="0"/>
              <a:t>Commits : 12+ </a:t>
            </a:r>
            <a:r>
              <a:rPr lang="en-GB" dirty="0" err="1"/>
              <a:t>meaniful</a:t>
            </a:r>
            <a:r>
              <a:rPr lang="en-GB" dirty="0"/>
              <a:t> commits</a:t>
            </a:r>
          </a:p>
          <a:p>
            <a:r>
              <a:rPr lang="en-GB" dirty="0"/>
              <a:t>Branch Strategy:</a:t>
            </a:r>
          </a:p>
          <a:p>
            <a:pPr lvl="1">
              <a:buFont typeface="Courier New" panose="02070309020205020404" pitchFamily="49" charset="0"/>
              <a:buChar char="o"/>
            </a:pPr>
            <a:r>
              <a:rPr lang="en-GB" dirty="0"/>
              <a:t>Single main branch (main)</a:t>
            </a:r>
          </a:p>
          <a:p>
            <a:pPr lvl="1">
              <a:buFont typeface="Courier New" panose="02070309020205020404" pitchFamily="49" charset="0"/>
              <a:buChar char="o"/>
            </a:pPr>
            <a:r>
              <a:rPr lang="en-GB" dirty="0"/>
              <a:t>Feature development directly </a:t>
            </a:r>
            <a:r>
              <a:rPr lang="en-GB" dirty="0" err="1"/>
              <a:t>commited</a:t>
            </a:r>
            <a:endParaRPr lang="en-GB" dirty="0"/>
          </a:p>
          <a:p>
            <a:r>
              <a:rPr lang="en-GB" dirty="0"/>
              <a:t>Recent commits:</a:t>
            </a:r>
          </a:p>
          <a:p>
            <a:pPr lvl="1">
              <a:buFont typeface="Courier New" panose="02070309020205020404" pitchFamily="49" charset="0"/>
              <a:buChar char="o"/>
            </a:pPr>
            <a:r>
              <a:rPr lang="en-GB" dirty="0"/>
              <a:t>git log –</a:t>
            </a:r>
            <a:r>
              <a:rPr lang="en-GB" dirty="0" err="1"/>
              <a:t>oneline</a:t>
            </a:r>
            <a:r>
              <a:rPr lang="en-GB" dirty="0"/>
              <a:t> -12</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EC02A-5C56-B7D5-40A9-8166C87A46A0}"/>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6F2F6D49-06BC-AB16-7960-9CC235DCCE19}"/>
              </a:ext>
            </a:extLst>
          </p:cNvPr>
          <p:cNvSpPr>
            <a:spLocks noGrp="1"/>
          </p:cNvSpPr>
          <p:nvPr>
            <p:ph idx="1"/>
          </p:nvPr>
        </p:nvSpPr>
        <p:spPr/>
        <p:txBody>
          <a:bodyPr>
            <a:normAutofit/>
          </a:bodyPr>
          <a:lstStyle/>
          <a:p>
            <a:pPr marL="0" indent="0">
              <a:buNone/>
            </a:pPr>
            <a:r>
              <a:rPr lang="en-GB" sz="4400" b="1" dirty="0"/>
              <a:t>				THANK YOU</a:t>
            </a:r>
          </a:p>
        </p:txBody>
      </p:sp>
    </p:spTree>
    <p:extLst>
      <p:ext uri="{BB962C8B-B14F-4D97-AF65-F5344CB8AC3E}">
        <p14:creationId xmlns:p14="http://schemas.microsoft.com/office/powerpoint/2010/main" val="159666533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250">
        <p15:prstTrans prst="fallOver"/>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136</TotalTime>
  <Words>747</Words>
  <Application>Microsoft Office PowerPoint</Application>
  <PresentationFormat>On-screen Show (4:3)</PresentationFormat>
  <Paragraphs>97</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Courier New</vt:lpstr>
      <vt:lpstr>Wingdings</vt:lpstr>
      <vt:lpstr>Office Theme</vt:lpstr>
      <vt:lpstr>EduOS - Operating System Simulation</vt:lpstr>
      <vt:lpstr>ABSTRACT</vt:lpstr>
      <vt:lpstr>DESIGN DECISIONS</vt:lpstr>
      <vt:lpstr>DESIGN DECISIONS</vt:lpstr>
      <vt:lpstr>Syllabus Mapping</vt:lpstr>
      <vt:lpstr>Scheduling Analysis</vt:lpstr>
      <vt:lpstr>Scheduling Gantt Chart</vt:lpstr>
      <vt:lpstr>Scheduling Gantt Chart</vt:lpstr>
      <vt:lpstr>Scheduling Gantt Chart</vt:lpstr>
      <vt:lpstr>Scheduling Gantt Chart</vt:lpstr>
      <vt:lpstr>Threading Issues</vt:lpstr>
      <vt:lpstr>C vs Python: Lessons Learned </vt:lpstr>
      <vt:lpstr>Challenges &amp; Solutions</vt:lpstr>
      <vt:lpstr>GitHub Summary</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EduOS - Operating System Simulation</dc:title>
  <dc:subject/>
  <dc:creator/>
  <cp:keywords/>
  <dc:description>generated using python-pptx</dc:description>
  <cp:lastModifiedBy>elhim</cp:lastModifiedBy>
  <cp:revision>3</cp:revision>
  <dcterms:created xsi:type="dcterms:W3CDTF">2013-01-27T09:14:16Z</dcterms:created>
  <dcterms:modified xsi:type="dcterms:W3CDTF">2026-05-27T14:40:48Z</dcterms:modified>
  <cp:category/>
</cp:coreProperties>
</file>